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Lexend Medium"/>
      <p:regular r:id="rId66"/>
      <p:bold r:id="rId67"/>
    </p:embeddedFont>
    <p:embeddedFont>
      <p:font typeface="Lexend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58048C-8326-4481-8D06-A2B5483F8C05}">
  <a:tblStyle styleId="{5F58048C-8326-4481-8D06-A2B5483F8C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LexendMedium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Lexend-regular.fntdata"/><Relationship Id="rId23" Type="http://schemas.openxmlformats.org/officeDocument/2006/relationships/slide" Target="slides/slide17.xml"/><Relationship Id="rId67" Type="http://schemas.openxmlformats.org/officeDocument/2006/relationships/font" Target="fonts/LexendMedium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exend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b="1" lang="en"/>
              <a:t>inclination angle</a:t>
            </a:r>
            <a:r>
              <a:rPr lang="en"/>
              <a:t> in projection refers to the angle that a particular axis (or plane) of the object makes with the plane of projection.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b="1" lang="en"/>
              <a:t>angle of skewness</a:t>
            </a:r>
            <a:r>
              <a:rPr lang="en"/>
              <a:t> in a projection refers to the angle by which the axes of the object are inclined relative to the plane of projection.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                    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6c9464c63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f6c9464c6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b0424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ab0424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type="title"/>
          </p:nvPr>
        </p:nvSpPr>
        <p:spPr>
          <a:xfrm>
            <a:off x="1528763" y="57150"/>
            <a:ext cx="756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/>
          <p:nvPr>
            <p:ph idx="2" type="clipArt"/>
          </p:nvPr>
        </p:nvSpPr>
        <p:spPr>
          <a:xfrm>
            <a:off x="1479550" y="1085850"/>
            <a:ext cx="37371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5368925" y="1085850"/>
            <a:ext cx="373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✶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10" type="dt"/>
          </p:nvPr>
        </p:nvSpPr>
        <p:spPr>
          <a:xfrm>
            <a:off x="1481137" y="4686300"/>
            <a:ext cx="178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1" type="ftr"/>
          </p:nvPr>
        </p:nvSpPr>
        <p:spPr>
          <a:xfrm>
            <a:off x="37973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32.png"/><Relationship Id="rId5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5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Relationship Id="rId4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6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3.png"/><Relationship Id="rId4" Type="http://schemas.openxmlformats.org/officeDocument/2006/relationships/image" Target="../media/image6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5.png"/><Relationship Id="rId4" Type="http://schemas.openxmlformats.org/officeDocument/2006/relationships/image" Target="../media/image5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5.png"/><Relationship Id="rId4" Type="http://schemas.openxmlformats.org/officeDocument/2006/relationships/image" Target="../media/image6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4.png"/><Relationship Id="rId4" Type="http://schemas.openxmlformats.org/officeDocument/2006/relationships/image" Target="../media/image5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2708550" y="1706100"/>
            <a:ext cx="37269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" sz="43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4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2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Introduction</a:t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Is a type of Transformation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Transforming points in a coordinate of dimension </a:t>
            </a:r>
            <a:r>
              <a:rPr b="0" i="0" lang="en" sz="22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into a coordinate system of dimension </a:t>
            </a:r>
            <a:r>
              <a:rPr b="0" i="0" lang="en" sz="2200" u="none" cap="none" strike="noStrik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where </a:t>
            </a:r>
            <a:r>
              <a:rPr b="0" i="0" lang="en" sz="2200" u="none" cap="none" strike="noStrik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&lt; </a:t>
            </a:r>
            <a:r>
              <a:rPr b="0" i="0" lang="en" sz="22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2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Planar Geometric Projection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Projecting an object on to a flat plane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Turning 3D shapes to its 2D plane (this chapter)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From 2D to 1D also possible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27300" y="234700"/>
            <a:ext cx="23355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Object/Target Point (P)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A single point on an object/geometry we're trying to project (calculate projection of)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Projected Point (P')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projected point after a projection transformation is applied for a given point P'. Projected points together constitutes the projected image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Projectors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"rays" responsible for projection. They'll intersect the projection plane.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Projection Plane (PP)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plane where the projected image of the object will appear on. This plane holds all of the P' points. Also known as view plane.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Center Of Projection (COP)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singular point where all the projectors/projection rays converge (only applicable to perspective projection).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Direction Of Projection (DOP)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direction towards which the parallel projection rays go towards (only applicable to parallel projection).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03500" y="234700"/>
            <a:ext cx="65262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(Terminologies)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327300" y="234700"/>
            <a:ext cx="51930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(Anatomy)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2574" y="467275"/>
            <a:ext cx="6307650" cy="448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481725" y="1953225"/>
            <a:ext cx="22362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041" y="241950"/>
            <a:ext cx="5372868" cy="482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683300" y="165175"/>
            <a:ext cx="24798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vs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350" y="100875"/>
            <a:ext cx="4921499" cy="1809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/>
        </p:nvGraphicFramePr>
        <p:xfrm>
          <a:off x="31475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{5F58048C-8326-4481-8D06-A2B5483F8C05}</a:tableStyleId>
              </a:tblPr>
              <a:tblGrid>
                <a:gridCol w="1538725"/>
                <a:gridCol w="3347975"/>
                <a:gridCol w="3660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Perspective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Parallel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Nature of Projectors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Projectors aren't parallel, and will converge at a point called COP.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projectors are always parallel, will never converge.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Configured By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Center of Projection (COP) and the distance between COP and the projection plane (PP)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angles those eventually control the Direction of Projection (DOP)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Foreshortening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Yes, so more familiar to human eye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No, appears less realistic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Examples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1-point, 2-point, 3-point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Cabinet, Cavalier, Orthographic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1974025" y="620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875" y="786412"/>
            <a:ext cx="6656724" cy="4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297625" y="3668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(Attributes)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27300" y="1301500"/>
            <a:ext cx="76581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Vanishing Point: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All lines that are parallel to each other (in 3D space)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appear to converge into a single point (in projected space)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One-point Perspective Projection: 1 vanishing point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Two-point Perspective Projection: 2 vanishing points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Three-point Perspective Projection: 3 vanishing points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In reality, there are infinite number of vanishing points.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Foreshortening: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Basically the phenomenon of far-away objects appearing smaller than the closer ones (despite having equal size).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More realistic since resembles human vision. Used in video games, animation, VR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297625" y="2144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900" y="1156850"/>
            <a:ext cx="7611149" cy="34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815900" y="18861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675" y="50125"/>
            <a:ext cx="4803101" cy="50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/>
        </p:nvSpPr>
        <p:spPr>
          <a:xfrm>
            <a:off x="297625" y="1382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</a:t>
            </a: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(Attributes)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27300" y="844300"/>
            <a:ext cx="79698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Lines: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Lines that are parallel to each other (in 3D space) even still appear parallel to each other (in projected space)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Convergence: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Since the lines remain parallel there are no single point the projectors converge into (in other words, they converge at infinity). So there are no COP, but there is a Direction Of Projection (DOP).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Foreshortening: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Objects that are far-away appear the same size as the closer ones.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 Orthographic the DOP is equal to the normal vector of the plane, whereas they are not equal in case of Oblique.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Projected Images are less realistic, but they are good for architectural planning and design.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(Some video games use isometric projection which is a type of parallel projection)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/>
        </p:nvSpPr>
        <p:spPr>
          <a:xfrm>
            <a:off x="665575" y="1897600"/>
            <a:ext cx="27021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435" y="0"/>
            <a:ext cx="49275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/>
        </p:nvSpPr>
        <p:spPr>
          <a:xfrm>
            <a:off x="6024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 (Geometric Setup)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825" y="929087"/>
            <a:ext cx="9144001" cy="4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/>
        </p:nvSpPr>
        <p:spPr>
          <a:xfrm>
            <a:off x="327300" y="158500"/>
            <a:ext cx="7658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Performing Projection Math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327300" y="615700"/>
            <a:ext cx="76581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Depending on the scenario, we need to use a specific projection matrix. A 4x4 homogeneous coordinate matrix since we're in 3D.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point to be projected P(x,y,z) will need to be converted into a 4x1 column-matrix, the w/last value will be 1.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Multiplying the projection matrix and the point column-matrix will give a 4x1 result containing the transformation point.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w/last value of result won't necessarily be 1. In this case, we need to divide all values in the result by w to get the actual result called P'(x',y',z').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43" y="2727200"/>
            <a:ext cx="6726990" cy="2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683300" y="317575"/>
            <a:ext cx="6167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Deriving Parallel Projection Matrix for XY Plane</a:t>
            </a:r>
            <a:endParaRPr b="0" i="0" sz="2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30900" y="3289375"/>
            <a:ext cx="86436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projection rays don't converge, so there are no Center Of Projection (COP)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There is however, a Direction Of Projection (DOP)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DOP is steered by some angles/scaling factors, which control the ultimate projection transformation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Different angle/scaling factor configuration for Cabinet, Cavalier, Orthographic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881275"/>
            <a:ext cx="3043537" cy="22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3900"/>
            <a:ext cx="5586201" cy="34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765250" y="774775"/>
            <a:ext cx="3409200" cy="3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the projected point on plane for 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the plane and P is Δz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(x, y, 0) is an equivalent point for P(x, y, z) put on the projection plane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β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inclination angle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x' = x +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cos(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….1(a)</a:t>
            </a:r>
            <a:endParaRPr b="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y' = y +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sin(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.1(b)</a:t>
            </a:r>
            <a:endParaRPr b="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3323775" y="3145925"/>
            <a:ext cx="121050" cy="189025"/>
          </a:xfrm>
          <a:custGeom>
            <a:rect b="b" l="l" r="r" t="t"/>
            <a:pathLst>
              <a:path extrusionOk="0" h="7561" w="4842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 rot="10800000">
            <a:off x="3463054" y="3275104"/>
            <a:ext cx="855600" cy="11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30"/>
          <p:cNvSpPr txBox="1"/>
          <p:nvPr/>
        </p:nvSpPr>
        <p:spPr>
          <a:xfrm>
            <a:off x="4249024" y="429996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b="0" baseline="3000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baseline="3000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30"/>
          <p:cNvCxnSpPr/>
          <p:nvPr/>
        </p:nvCxnSpPr>
        <p:spPr>
          <a:xfrm rot="10800000">
            <a:off x="2329575" y="3390425"/>
            <a:ext cx="0" cy="48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" name="Google Shape;227;p30"/>
          <p:cNvSpPr txBox="1"/>
          <p:nvPr/>
        </p:nvSpPr>
        <p:spPr>
          <a:xfrm>
            <a:off x="1783628" y="3740420"/>
            <a:ext cx="13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Orthographic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30"/>
          <p:cNvCxnSpPr/>
          <p:nvPr/>
        </p:nvCxnSpPr>
        <p:spPr>
          <a:xfrm>
            <a:off x="3700150" y="1465425"/>
            <a:ext cx="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30"/>
          <p:cNvSpPr txBox="1"/>
          <p:nvPr/>
        </p:nvSpPr>
        <p:spPr>
          <a:xfrm>
            <a:off x="3323787" y="1125843"/>
            <a:ext cx="85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Oblique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00" y="332225"/>
            <a:ext cx="8831612" cy="371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6452207" y="233910"/>
            <a:ext cx="27945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α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the angle between the projection plane and projection ray, this is the angle of skewness.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5" y="4047150"/>
            <a:ext cx="5520575" cy="8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6384500" y="3816000"/>
            <a:ext cx="24420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We will address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as just z since: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(z - 0) = z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8" name="Google Shape;238;p31"/>
          <p:cNvSpPr/>
          <p:nvPr/>
        </p:nvSpPr>
        <p:spPr>
          <a:xfrm>
            <a:off x="3542678" y="2240593"/>
            <a:ext cx="329922" cy="577018"/>
          </a:xfrm>
          <a:custGeom>
            <a:rect b="b" l="l" r="r" t="t"/>
            <a:pathLst>
              <a:path extrusionOk="0" h="7561" w="4842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31"/>
          <p:cNvCxnSpPr/>
          <p:nvPr/>
        </p:nvCxnSpPr>
        <p:spPr>
          <a:xfrm rot="10800000">
            <a:off x="3781300" y="2419425"/>
            <a:ext cx="955200" cy="1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31"/>
          <p:cNvSpPr txBox="1"/>
          <p:nvPr/>
        </p:nvSpPr>
        <p:spPr>
          <a:xfrm>
            <a:off x="4656922" y="224057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b="0" baseline="3000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baseline="3000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/>
        </p:nvSpPr>
        <p:spPr>
          <a:xfrm>
            <a:off x="327300" y="310900"/>
            <a:ext cx="4243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From equations 1(a) and 1(b), we can write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75" y="1042925"/>
            <a:ext cx="2957275" cy="1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/>
          <p:nvPr/>
        </p:nvSpPr>
        <p:spPr>
          <a:xfrm>
            <a:off x="264275" y="3263975"/>
            <a:ext cx="4243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Since on the projection plane, all z values are 0 (for this particular scenario)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463" y="4496250"/>
            <a:ext cx="876700" cy="3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/>
        </p:nvSpPr>
        <p:spPr>
          <a:xfrm>
            <a:off x="5098600" y="310900"/>
            <a:ext cx="3888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Rewriting with color coded coefficients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4770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300" y="890075"/>
            <a:ext cx="3522900" cy="26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/>
        </p:nvSpPr>
        <p:spPr>
          <a:xfrm>
            <a:off x="51501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4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8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/>
          <p:nvPr/>
        </p:nvSpPr>
        <p:spPr>
          <a:xfrm>
            <a:off x="27830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5904975" y="985200"/>
            <a:ext cx="32385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have any w equation.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will consider w = 1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(since parallel projection)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62" name="Google Shape;26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2457" y="2997484"/>
            <a:ext cx="1526017" cy="156436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3"/>
          <p:cNvSpPr/>
          <p:nvPr/>
        </p:nvSpPr>
        <p:spPr>
          <a:xfrm>
            <a:off x="6340575" y="2856075"/>
            <a:ext cx="1905000" cy="19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00" y="165575"/>
            <a:ext cx="2581974" cy="203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7650" y="240100"/>
            <a:ext cx="465235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/>
          <p:nvPr/>
        </p:nvSpPr>
        <p:spPr>
          <a:xfrm>
            <a:off x="2977900" y="979125"/>
            <a:ext cx="670800" cy="44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2616800" y="2365075"/>
            <a:ext cx="4603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Since, w = 1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(only for this scenario)</a:t>
            </a:r>
            <a:endParaRPr b="0" i="0" sz="18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3092875"/>
            <a:ext cx="2389438" cy="18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/>
        </p:nvSpPr>
        <p:spPr>
          <a:xfrm>
            <a:off x="223125" y="277850"/>
            <a:ext cx="6177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Considering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6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z as 1, we can get this relation:</a:t>
            </a:r>
            <a:endParaRPr b="0" i="0" sz="19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875" y="3219775"/>
            <a:ext cx="4722324" cy="1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5"/>
          <p:cNvSpPr txBox="1"/>
          <p:nvPr/>
        </p:nvSpPr>
        <p:spPr>
          <a:xfrm>
            <a:off x="223125" y="2259050"/>
            <a:ext cx="47886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By which, we can get an alternate matrix:</a:t>
            </a:r>
            <a:endParaRPr b="0" i="0" sz="19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192" y="1151325"/>
            <a:ext cx="4926316" cy="7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/>
          <p:nvPr/>
        </p:nvSpPr>
        <p:spPr>
          <a:xfrm>
            <a:off x="5913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6171375" y="2111625"/>
            <a:ext cx="27249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the math,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either build the matrix using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α, 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or (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λ, 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/>
        </p:nvSpPr>
        <p:spPr>
          <a:xfrm>
            <a:off x="305925" y="79075"/>
            <a:ext cx="80838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Configurations for different types of parallel projections</a:t>
            </a:r>
            <a:endParaRPr b="0" i="0" sz="18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288" name="Google Shape;288;p36"/>
          <p:cNvGraphicFramePr/>
          <p:nvPr/>
        </p:nvGraphicFramePr>
        <p:xfrm>
          <a:off x="314750" y="57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{5F58048C-8326-4481-8D06-A2B5483F8C05}</a:tableStyleId>
              </a:tblPr>
              <a:tblGrid>
                <a:gridCol w="1395050"/>
                <a:gridCol w="966425"/>
                <a:gridCol w="893650"/>
                <a:gridCol w="901725"/>
                <a:gridCol w="1241425"/>
                <a:gridCol w="2972075"/>
              </a:tblGrid>
              <a:tr h="6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Type</a:t>
                      </a:r>
                      <a:endParaRPr b="1"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Oblique?</a:t>
                      </a:r>
                      <a:endParaRPr b="1"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/>
                        <a:t>λ</a:t>
                      </a:r>
                      <a:r>
                        <a:rPr b="1" lang="en" sz="1300" u="none" cap="none" strike="noStrike"/>
                        <a:t> </a:t>
                      </a:r>
                      <a:r>
                        <a:rPr b="1" lang="en" sz="1300" u="none" cap="none" strike="noStrike"/>
                        <a:t>(depth)</a:t>
                      </a:r>
                      <a:endParaRPr b="1"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α (deg)</a:t>
                      </a:r>
                      <a:endParaRPr b="1"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β (deg)</a:t>
                      </a:r>
                      <a:endParaRPr b="1"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Preview</a:t>
                      </a:r>
                      <a:endParaRPr b="1" sz="1300" u="none" cap="none" strike="noStrike"/>
                    </a:p>
                  </a:txBody>
                  <a:tcPr marT="91425" marB="91425" marR="91425" marL="91425"/>
                </a:tc>
              </a:tr>
              <a:tr h="127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Cabinet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63.4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127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Cavalier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127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Orthographic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89" name="Google Shape;28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9750" y="105880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9750" y="239215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9750" y="3614650"/>
            <a:ext cx="1190500" cy="1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/>
        </p:nvSpPr>
        <p:spPr>
          <a:xfrm>
            <a:off x="644800" y="1776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For a point P (10, 20, -40), calculate the projected point P' using Cavalier Projection, orientation angle is 30° for projection plane of XY.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644800" y="8634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Cavalier,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45°. And it is given that,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β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30°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whole calculated matrix with the point multiplied is: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975" y="1634600"/>
            <a:ext cx="6749925" cy="19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/>
        </p:nvSpPr>
        <p:spPr>
          <a:xfrm>
            <a:off x="644800" y="3911450"/>
            <a:ext cx="7975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divide values by w since w is already 1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(-24.64, 0)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Derive the matrix for orthographic projection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644800" y="7110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Here, the projection rays will be perpendicular to the projection plane,  α will be 90 degrees, making λ as 0, so the value of β won't even be considered.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Putting these values into the formula matrix gives: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6" name="Google Shape;30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7250" y="2038475"/>
            <a:ext cx="2634275" cy="2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Calculate Orthographic Projection on XY Plane for the point P (d, e, f)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644800" y="6348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know any other value since the orthographic projection matrix is constant, we simply multiply our provided point P (as a homogenous column-matrix) with the matrix.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13" name="Google Shape;3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425" y="1583750"/>
            <a:ext cx="5415950" cy="22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9"/>
          <p:cNvSpPr txBox="1"/>
          <p:nvPr/>
        </p:nvSpPr>
        <p:spPr>
          <a:xfrm>
            <a:off x="644800" y="3987650"/>
            <a:ext cx="79752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fact, applying orthographic projection on XY Plane to a point is equivalent to copying the point's x and y values, while setting its z value to 0. [(x, y, z) becomes (x, y, 0)]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/>
        </p:nvSpPr>
        <p:spPr>
          <a:xfrm>
            <a:off x="327300" y="421600"/>
            <a:ext cx="7969800" cy="3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But how can we find the Parallel projection matrix for different projection plane other than XY?</a:t>
            </a:r>
            <a:endParaRPr b="0" i="0" sz="2400" u="none" cap="none" strike="noStrik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	</a:t>
            </a:r>
            <a:r>
              <a:rPr b="0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Same way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clockwise to get to YZ plane.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counterclockwise to get to ZX plane.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Modify the matrix accordingly.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ZX / Y =0</a:t>
            </a:r>
            <a:endParaRPr b="1" i="0" sz="24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75" y="186852"/>
            <a:ext cx="4557225" cy="309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64" y="39694"/>
            <a:ext cx="8135274" cy="542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YZ / X =0</a:t>
            </a:r>
            <a:endParaRPr b="1" i="0" sz="24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82" y="133286"/>
            <a:ext cx="4695026" cy="346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303" y="176976"/>
            <a:ext cx="8839551" cy="4625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28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(General Purpose)</a:t>
            </a:r>
            <a:endParaRPr b="0" i="0" sz="28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/>
        </p:nvSpPr>
        <p:spPr>
          <a:xfrm>
            <a:off x="1798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44" name="Google Shape;3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49" y="885325"/>
            <a:ext cx="5742825" cy="36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4"/>
          <p:cNvSpPr txBox="1"/>
          <p:nvPr/>
        </p:nvSpPr>
        <p:spPr>
          <a:xfrm>
            <a:off x="6161875" y="1767100"/>
            <a:ext cx="26226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case of General Purpose Perspective Projection, the COP is not necessarily on the z-axis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875" y="642325"/>
            <a:ext cx="6044651" cy="2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5"/>
          <p:cNvSpPr txBox="1"/>
          <p:nvPr/>
        </p:nvSpPr>
        <p:spPr>
          <a:xfrm>
            <a:off x="179850" y="3353275"/>
            <a:ext cx="86046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at an arbitrary point, not necessarily on the z-axis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care if COP or PP is at origin or not.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COP and PP (expressed as d) is the z-distance between them.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52" name="Google Shape;352;p45"/>
          <p:cNvSpPr txBox="1"/>
          <p:nvPr/>
        </p:nvSpPr>
        <p:spPr>
          <a:xfrm>
            <a:off x="390250" y="3558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/>
          <p:nvPr/>
        </p:nvSpPr>
        <p:spPr>
          <a:xfrm>
            <a:off x="637050" y="3353275"/>
            <a:ext cx="7211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expressed component-wise as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171CF3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z-axis pierces through the PP, the piercing point is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1F66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difference between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is equals to </a:t>
            </a:r>
            <a:r>
              <a:rPr b="0" i="0" lang="en" sz="16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d</a:t>
            </a:r>
            <a:endParaRPr b="0" i="0" sz="16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58" name="Google Shape;358;p46"/>
          <p:cNvSpPr txBox="1"/>
          <p:nvPr/>
        </p:nvSpPr>
        <p:spPr>
          <a:xfrm>
            <a:off x="2378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9" name="Google Shape;35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250" y="720750"/>
            <a:ext cx="4926851" cy="2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408450" y="3505675"/>
            <a:ext cx="786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vector called q that goes from (0, 0,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to COP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 = (qx, qy, qz) =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-z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C504C5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(qx, qy, qz) is sometimes expressed as (Qdx, Qdy, Qdz)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6" name="Google Shape;3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400" y="812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2" name="Google Shape;37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50" y="1442475"/>
            <a:ext cx="4994149" cy="24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8"/>
          <p:cNvSpPr txBox="1"/>
          <p:nvPr/>
        </p:nvSpPr>
        <p:spPr>
          <a:xfrm>
            <a:off x="5880125" y="12218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5652775" y="2856325"/>
            <a:ext cx="3235200" cy="4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5880125" y="32792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+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6911025" y="33553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……..1(a)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6911025" y="3660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……..1(b)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7215825" y="4041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……..1(c)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/>
        </p:nvSpPr>
        <p:spPr>
          <a:xfrm>
            <a:off x="795450" y="3975350"/>
            <a:ext cx="7387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parametric line segment that goes between COP and 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line segment is basically our projection ray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84" name="Google Shape;384;p49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5" name="Google Shape;38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211" y="1027250"/>
            <a:ext cx="4883828" cy="27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/>
          <p:nvPr/>
        </p:nvSpPr>
        <p:spPr>
          <a:xfrm>
            <a:off x="338250" y="3504350"/>
            <a:ext cx="7387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At some point, for a certain value of t, P(t) will be the same as P'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call that t value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91" name="Google Shape;391;p50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92" name="Google Shape;39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11" y="798650"/>
            <a:ext cx="4883828" cy="27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5599" y="635549"/>
            <a:ext cx="2797250" cy="2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100" y="4415150"/>
            <a:ext cx="5101024" cy="3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0"/>
          <p:cNvSpPr txBox="1"/>
          <p:nvPr/>
        </p:nvSpPr>
        <p:spPr>
          <a:xfrm>
            <a:off x="6646850" y="43366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……..(2)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45000" y="702400"/>
            <a:ext cx="7596050" cy="20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1"/>
          <p:cNvSpPr txBox="1"/>
          <p:nvPr/>
        </p:nvSpPr>
        <p:spPr>
          <a:xfrm>
            <a:off x="172000" y="2796625"/>
            <a:ext cx="8604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need to remove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these equations, since we don't know the value of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equation of z' we can write: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02" name="Google Shape;40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489025"/>
            <a:ext cx="35623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1"/>
          <p:cNvSpPr txBox="1"/>
          <p:nvPr/>
        </p:nvSpPr>
        <p:spPr>
          <a:xfrm>
            <a:off x="4663125" y="100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4" name="Google Shape;404;p51"/>
          <p:cNvSpPr txBox="1"/>
          <p:nvPr/>
        </p:nvSpPr>
        <p:spPr>
          <a:xfrm>
            <a:off x="4663125" y="15343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6644325" y="2143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……..3(c)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6" name="Google Shape;406;p51"/>
          <p:cNvSpPr txBox="1"/>
          <p:nvPr/>
        </p:nvSpPr>
        <p:spPr>
          <a:xfrm>
            <a:off x="2560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Breaking the equation the last equation into x, y, z components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/>
        </p:nvSpPr>
        <p:spPr>
          <a:xfrm>
            <a:off x="5882388" y="113625"/>
            <a:ext cx="25173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P'(x',y',z')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(0,0,z</a:t>
            </a:r>
            <a:r>
              <a:rPr b="1" baseline="-25000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both reside on the same plane (the PP), their z value are the same.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which means: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=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……..(4)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 equation)</a:t>
            </a:r>
            <a:endParaRPr b="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12" name="Google Shape;41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50" y="2926450"/>
            <a:ext cx="8202999" cy="1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2"/>
          <p:cNvSpPr txBox="1"/>
          <p:nvPr/>
        </p:nvSpPr>
        <p:spPr>
          <a:xfrm>
            <a:off x="324400" y="4473025"/>
            <a:ext cx="7602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substitute the value of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 the equations of x' and y' from before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14" name="Google Shape;41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950" y="431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0" name="Google Shape;42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3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2" name="Google Shape;42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3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4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30" name="Google Shape;43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32" name="Google Shape;43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4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4" name="Google Shape;434;p54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5" name="Google Shape;435;p54"/>
          <p:cNvSpPr txBox="1"/>
          <p:nvPr/>
        </p:nvSpPr>
        <p:spPr>
          <a:xfrm>
            <a:off x="5918700" y="1681200"/>
            <a:ext cx="2893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Notice how they have the same denominator</a:t>
            </a:r>
            <a:b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="0" baseline="-2500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436" name="Google Shape;436;p54"/>
          <p:cNvCxnSpPr>
            <a:stCxn id="435" idx="2"/>
          </p:cNvCxnSpPr>
          <p:nvPr/>
        </p:nvCxnSpPr>
        <p:spPr>
          <a:xfrm rot="5400000">
            <a:off x="4311450" y="1439250"/>
            <a:ext cx="1955400" cy="4152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54"/>
          <p:cNvCxnSpPr>
            <a:stCxn id="435" idx="1"/>
          </p:cNvCxnSpPr>
          <p:nvPr/>
        </p:nvCxnSpPr>
        <p:spPr>
          <a:xfrm flipH="1">
            <a:off x="3149700" y="2109600"/>
            <a:ext cx="2769000" cy="80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z'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3" name="Google Shape;443;p55"/>
          <p:cNvSpPr txBox="1"/>
          <p:nvPr/>
        </p:nvSpPr>
        <p:spPr>
          <a:xfrm>
            <a:off x="4132925" y="30816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……..5(c)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44" name="Google Shape;44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2394" y="562362"/>
            <a:ext cx="6984388" cy="32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5"/>
          <p:cNvSpPr txBox="1"/>
          <p:nvPr/>
        </p:nvSpPr>
        <p:spPr>
          <a:xfrm>
            <a:off x="1872225" y="512350"/>
            <a:ext cx="467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[Ok, but it lacks the common denominator]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6" name="Google Shape;446;p55"/>
          <p:cNvSpPr txBox="1"/>
          <p:nvPr/>
        </p:nvSpPr>
        <p:spPr>
          <a:xfrm>
            <a:off x="4767325" y="1350275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by denominator/denominator]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7" name="Google Shape;447;p55"/>
          <p:cNvSpPr txBox="1"/>
          <p:nvPr/>
        </p:nvSpPr>
        <p:spPr>
          <a:xfrm>
            <a:off x="4767325" y="15969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the above part with z</a:t>
            </a:r>
            <a:r>
              <a:rPr b="0" baseline="-2500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8" name="Google Shape;448;p55"/>
          <p:cNvSpPr txBox="1"/>
          <p:nvPr/>
        </p:nvSpPr>
        <p:spPr>
          <a:xfrm>
            <a:off x="4767325" y="18661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[keep the bottom part intact]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9" name="Google Shape;449;p55"/>
          <p:cNvSpPr txBox="1"/>
          <p:nvPr/>
        </p:nvSpPr>
        <p:spPr>
          <a:xfrm>
            <a:off x="5737275" y="2546775"/>
            <a:ext cx="3059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We've brought the common denominator present in x' and y'</a:t>
            </a:r>
            <a:b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="0" baseline="-2500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450" name="Google Shape;450;p55"/>
          <p:cNvCxnSpPr>
            <a:stCxn id="449" idx="2"/>
          </p:cNvCxnSpPr>
          <p:nvPr/>
        </p:nvCxnSpPr>
        <p:spPr>
          <a:xfrm rot="5400000">
            <a:off x="5379225" y="1780425"/>
            <a:ext cx="264600" cy="351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6"/>
          <p:cNvSpPr txBox="1"/>
          <p:nvPr/>
        </p:nvSpPr>
        <p:spPr>
          <a:xfrm>
            <a:off x="248200" y="205825"/>
            <a:ext cx="1618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All in one place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56" name="Google Shape;456;p56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6"/>
          <p:cNvSpPr txBox="1"/>
          <p:nvPr/>
        </p:nvSpPr>
        <p:spPr>
          <a:xfrm>
            <a:off x="4439200" y="129625"/>
            <a:ext cx="3937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call the common denominator </a:t>
            </a:r>
            <a:r>
              <a:rPr b="0" i="0" lang="en" sz="1400" u="none" cap="none" strike="noStrik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58" name="Google Shape;45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25925"/>
            <a:ext cx="3784863" cy="36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724" y="716350"/>
            <a:ext cx="3611825" cy="392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 txBox="1"/>
          <p:nvPr/>
        </p:nvSpPr>
        <p:spPr>
          <a:xfrm>
            <a:off x="3244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</a:t>
            </a:r>
            <a:r>
              <a:rPr b="0" i="0" lang="en" sz="1400" u="none" cap="none" strike="noStrik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 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to the L.H.S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5" name="Google Shape;465;p57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7"/>
          <p:cNvSpPr txBox="1"/>
          <p:nvPr/>
        </p:nvSpPr>
        <p:spPr>
          <a:xfrm>
            <a:off x="4371600" y="129625"/>
            <a:ext cx="4282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Same thing, but with color coded coefficients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7" name="Google Shape;467;p57"/>
          <p:cNvSpPr txBox="1"/>
          <p:nvPr/>
        </p:nvSpPr>
        <p:spPr>
          <a:xfrm>
            <a:off x="5073900" y="46258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68" name="Google Shape;4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598" y="705525"/>
            <a:ext cx="4488703" cy="37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73525"/>
            <a:ext cx="3825850" cy="346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8"/>
          <p:cNvSpPr txBox="1"/>
          <p:nvPr/>
        </p:nvSpPr>
        <p:spPr>
          <a:xfrm>
            <a:off x="327300" y="158500"/>
            <a:ext cx="7658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Check Again: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Performing Projection Math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75" name="Google Shape;475;p58"/>
          <p:cNvSpPr txBox="1"/>
          <p:nvPr/>
        </p:nvSpPr>
        <p:spPr>
          <a:xfrm>
            <a:off x="327300" y="615700"/>
            <a:ext cx="76581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Depending on the scenario, we need to use a specific projection matrix. A 4x4 homogeneous coordinate matrix since we're in 3D.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point to be projected P(x,y,z) will need to be converted into a 4x1 column-matrix, the w/last value will be 1.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Multiplying the projection matrix and the point column-matrix will give a 4x1 result containing the transformation point.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w/last value of result won't necessarily be 1. In this case, we need to divide all values in the result by w to get the actual result called P'(x',y',z').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76" name="Google Shape;47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43" y="2727200"/>
            <a:ext cx="6726990" cy="2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9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82" name="Google Shape;48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9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/>
          <p:nvPr/>
        </p:nvSpPr>
        <p:spPr>
          <a:xfrm>
            <a:off x="6292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Ultimate Matrix System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90" name="Google Shape;49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975" y="688450"/>
            <a:ext cx="7702499" cy="278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0"/>
          <p:cNvSpPr txBox="1"/>
          <p:nvPr/>
        </p:nvSpPr>
        <p:spPr>
          <a:xfrm>
            <a:off x="824425" y="4081325"/>
            <a:ext cx="6895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only need to know the constants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to build the matrix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97" name="Google Shape;49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61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04" name="Google Shape;50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2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06" name="Google Shape;50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126" y="1042950"/>
            <a:ext cx="2930425" cy="26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3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2" name="Google Shape;512;p63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13" name="Google Shape;51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9" name="Google Shape;519;p64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20" name="Google Shape;52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2800" y="981775"/>
            <a:ext cx="3184950" cy="24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(100, 90, 0), calculate the projected point P' for a point P(30, 50, -250) where the Projection Plane parallel to XY is 200 units away from COP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27" name="Google Shape;527;p65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 level of COP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while the z level of 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there's a projection on the plane, the plane is likely to be between these two points.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plane itself will have a z value that's between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 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(which is a negative value)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It's already said the distance between COP and PP is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units. This distance is across z-axis.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Thus, the z value of PP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(0-200)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This is the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value.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-200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28" name="Google Shape;52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749725"/>
            <a:ext cx="4378968" cy="22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34" name="Google Shape;534;p66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we've got the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we can now calculate the q vector.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 = COP - (0,0,z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(100,90,0) - (0,0,-200) = (100,90,200)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100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90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(and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previously)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now but these values into the general purpose perspective projection matrix, we will get the matrix from the upper-right.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35" name="Google Shape;53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" y="520250"/>
            <a:ext cx="4923949" cy="25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1574" y="994350"/>
            <a:ext cx="2651225" cy="17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simply multiply the point P as a column vector.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2" name="Google Shape;542;p67"/>
          <p:cNvSpPr txBox="1"/>
          <p:nvPr/>
        </p:nvSpPr>
        <p:spPr>
          <a:xfrm>
            <a:off x="248200" y="3025225"/>
            <a:ext cx="85554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Almost done, all we need to do is divide each value in the result by "w" which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1.25</a:t>
            </a:r>
            <a:endParaRPr b="0" i="0" sz="1400" u="none" cap="none" strike="noStrike">
              <a:solidFill>
                <a:srgbClr val="3C78D8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43" name="Google Shape;54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00025"/>
            <a:ext cx="6585010" cy="20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5700" y="3483100"/>
            <a:ext cx="3602400" cy="14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8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origin, calculate the projected point P' for a given point P(50, 60, -300), if the plane is 200 units in Z axis away from the COP.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0" name="Google Shape;55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825" y="1131924"/>
            <a:ext cx="5066349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8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Projection Plane (PP) lies on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side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z-axis, all points on that plane will have a negative z value, which is why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is negative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68"/>
          <p:cNvSpPr txBox="1"/>
          <p:nvPr/>
        </p:nvSpPr>
        <p:spPr>
          <a:xfrm>
            <a:off x="61289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PP }</a:t>
            </a:r>
            <a:endParaRPr b="0" baseline="-25000" i="0" sz="2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9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"COP at Origin", we place the d value there, and multiply it by our point P (as a column vector)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8" name="Google Shape;55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704" y="963475"/>
            <a:ext cx="5809542" cy="17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274" y="3495000"/>
            <a:ext cx="2668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9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61" name="Google Shape;561;p69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40, -200)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0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PP at origin, calculate the projected point P' for a given point P(50, 60, -100), if the plane is 200 units in Z axis away from the COP.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67" name="Google Shape;567;p70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COP lies on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side of the z-axis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its z values will be positive, which makes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positive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Google Shape;56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32050"/>
            <a:ext cx="5046230" cy="25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0"/>
          <p:cNvSpPr txBox="1"/>
          <p:nvPr/>
        </p:nvSpPr>
        <p:spPr>
          <a:xfrm>
            <a:off x="59003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COP }</a:t>
            </a:r>
            <a:endParaRPr b="0" baseline="-25000" i="0" sz="2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"PP at Origin", we place the d value there, and multiply it by our point P (as a column vector)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5" name="Google Shape;575;p71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6" name="Google Shape;576;p71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77" name="Google Shape;57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948950"/>
            <a:ext cx="5089521" cy="174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325" y="3367000"/>
            <a:ext cx="2258500" cy="1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idx="1" type="body"/>
          </p:nvPr>
        </p:nvSpPr>
        <p:spPr>
          <a:xfrm>
            <a:off x="628650" y="94004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